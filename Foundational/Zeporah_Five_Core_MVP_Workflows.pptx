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D99A2B"/>
                </a:solidFill>
                <a:latin typeface="Aptos"/>
              </a:defRPr>
            </a:pPr>
            <a:r>
              <a:t>ZEPORAH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73152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Five Core MVP</a:t>
            </a:r>
            <a:br/>
            <a:r>
              <a:t>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6858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DEEFF2"/>
                </a:solidFill>
                <a:latin typeface="Aptos"/>
              </a:defRPr>
            </a:pPr>
            <a:r>
              <a:t>A calm, private family workspace for what comes after a death.</a:t>
            </a:r>
          </a:p>
        </p:txBody>
      </p:sp>
      <p:sp>
        <p:nvSpPr>
          <p:cNvPr id="5" name="Oval 4"/>
          <p:cNvSpPr/>
          <p:nvPr/>
        </p:nvSpPr>
        <p:spPr>
          <a:xfrm>
            <a:off x="8229600" y="1280160"/>
            <a:ext cx="182880" cy="182880"/>
          </a:xfrm>
          <a:prstGeom prst="ellipse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23960" y="1664208"/>
            <a:ext cx="137160" cy="137160"/>
          </a:xfrm>
          <a:prstGeom prst="ellipse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81160" y="2148840"/>
            <a:ext cx="109728" cy="109728"/>
          </a:xfrm>
          <a:prstGeom prst="ellipse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10928" y="2724912"/>
            <a:ext cx="91440" cy="91440"/>
          </a:xfrm>
          <a:prstGeom prst="ellipse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48472" y="1371600"/>
            <a:ext cx="548640" cy="27432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42832" y="1737360"/>
            <a:ext cx="393192" cy="27432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90888" y="2212848"/>
            <a:ext cx="347472" cy="27432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160520"/>
            <a:ext cx="6309360" cy="1051560"/>
          </a:xfrm>
          <a:prstGeom prst="roundRect">
            <a:avLst/>
          </a:prstGeom>
          <a:solidFill>
            <a:srgbClr val="183752"/>
          </a:solidFill>
          <a:ln>
            <a:solidFill>
              <a:srgbClr val="18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4251959"/>
            <a:ext cx="6035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THE PRODUCT NORTH 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443983"/>
            <a:ext cx="6035040" cy="7223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“I finally know what to do next—and I do not have to do it alone.”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961888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BED8E0"/>
                </a:solidFill>
                <a:latin typeface="Aptos"/>
              </a:defRPr>
            </a:pPr>
            <a:r>
              <a:t>Georgia-first MVP  •  Metro Atlanta launch  •  zeporahcare.com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Five moments that matter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The MVP should solve five high-stress moments exceptionally well—not try to solve everything at once.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00200"/>
            <a:ext cx="420624" cy="420624"/>
          </a:xfrm>
          <a:prstGeom prst="ellipse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420624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00200"/>
            <a:ext cx="29260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First Things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18488"/>
            <a:ext cx="61264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4313A"/>
                </a:solidFill>
                <a:latin typeface="Aptos"/>
              </a:defRPr>
            </a:pPr>
            <a:r>
              <a:t>“I do not know what to do first.”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04872"/>
            <a:ext cx="420624" cy="420624"/>
          </a:xfrm>
          <a:prstGeom prst="ellipse">
            <a:avLst/>
          </a:prstGeom>
          <a:solidFill>
            <a:srgbClr val="5E8C6A"/>
          </a:solidFill>
          <a:ln>
            <a:solidFill>
              <a:srgbClr val="5E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78024"/>
            <a:ext cx="420624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04872"/>
            <a:ext cx="29260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Family Circle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423160"/>
            <a:ext cx="61264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4313A"/>
                </a:solidFill>
                <a:latin typeface="Aptos"/>
              </a:defRPr>
            </a:pPr>
            <a:r>
              <a:t>“How can people help without chaos?”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209544"/>
            <a:ext cx="420624" cy="420624"/>
          </a:xfrm>
          <a:prstGeom prst="ellipse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82696"/>
            <a:ext cx="420624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9544"/>
            <a:ext cx="29260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Documents &amp;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227832"/>
            <a:ext cx="61264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4313A"/>
                </a:solidFill>
                <a:latin typeface="Aptos"/>
              </a:defRPr>
            </a:pPr>
            <a:r>
              <a:t>“Where do we keep everything?”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014216"/>
            <a:ext cx="420624" cy="420624"/>
          </a:xfrm>
          <a:prstGeom prst="ellipse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87368"/>
            <a:ext cx="420624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14216"/>
            <a:ext cx="29260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Resource &amp; Support Finder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032504"/>
            <a:ext cx="61264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4313A"/>
                </a:solidFill>
                <a:latin typeface="Aptos"/>
              </a:defRPr>
            </a:pPr>
            <a:r>
              <a:t>“Who do I call?”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4818888"/>
            <a:ext cx="420624" cy="420624"/>
          </a:xfrm>
          <a:prstGeom prst="ellipse">
            <a:avLst/>
          </a:prstGeom>
          <a:solidFill>
            <a:srgbClr val="B95D4D"/>
          </a:solidFill>
          <a:ln>
            <a:solidFill>
              <a:srgbClr val="B95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92040"/>
            <a:ext cx="420624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18888"/>
            <a:ext cx="29260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Keep Moving Forward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837175"/>
            <a:ext cx="61264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4313A"/>
                </a:solidFill>
                <a:latin typeface="Aptos"/>
              </a:defRPr>
            </a:pPr>
            <a:r>
              <a:t>“What is still left—and what can wait?”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1691640"/>
            <a:ext cx="2880360" cy="315468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04504" y="1783080"/>
            <a:ext cx="2606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BUILD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4504" y="1975104"/>
            <a:ext cx="2606040" cy="28254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Clarity</a:t>
            </a:r>
            <a:br/>
            <a:r>
              <a:t>2. Coordination</a:t>
            </a:r>
            <a:br/>
            <a:r>
              <a:t>3. Organization</a:t>
            </a:r>
            <a:br/>
            <a:r>
              <a:t>4. Trusted support</a:t>
            </a:r>
            <a:br/>
            <a:r>
              <a:t>5. Gentle follow-through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WORKFLOW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First Things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Turn panic and uncertainty into a short, personal plan in under 10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703320" cy="91440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08760"/>
            <a:ext cx="342900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342900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“My loved one has died. What requires attention today, and what can wait?”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33649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64008" cy="2286000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52928"/>
            <a:ext cx="3072384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THE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13639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Welcome: “You do not have to do everything today.”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5643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Create a secure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77647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Answer only essential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09651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Generate 3–5 priority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41655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Complete, postpone, or assign one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2743200"/>
            <a:ext cx="33649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2743200"/>
            <a:ext cx="64008" cy="2286000"/>
          </a:xfrm>
          <a:prstGeom prst="rect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2852928"/>
            <a:ext cx="3072384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MVP MUST INCLUDE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13639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Georgia-first case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45643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Priority-based task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77647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Complete / postpone / dismiss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409651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Optional faith/cultural preferences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441655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Plain-language boundaries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743200"/>
            <a:ext cx="33649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743200"/>
            <a:ext cx="64008" cy="2286000"/>
          </a:xfrm>
          <a:prstGeom prst="rect">
            <a:avLst/>
          </a:prstGeom>
          <a:solidFill>
            <a:srgbClr val="5E8C6A"/>
          </a:solidFill>
          <a:ln>
            <a:solidFill>
              <a:srgbClr val="5E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2852928"/>
            <a:ext cx="3072384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SUCCESS LOOKS LIKE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13639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60%+ finish onboarding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345643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40%+ complete 3 actions in 7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77647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70%+ report less confusion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09651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First value within 90 seconds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32120"/>
            <a:ext cx="10881360" cy="502920"/>
          </a:xfrm>
          <a:prstGeom prst="round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623559"/>
            <a:ext cx="10607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15583"/>
            <a:ext cx="10607040" cy="173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Show the next right action—not an endless checklist.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WORKFLOW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Family 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Give people meaningful ways to help without turning grief into group-text chaos.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703320" cy="91440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08760"/>
            <a:ext cx="342900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342900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“My family wants to help, but I cannot manage everyone, every question, and private information.”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64008" cy="2423160"/>
          </a:xfrm>
          <a:prstGeom prst="rect">
            <a:avLst/>
          </a:prstGeom>
          <a:solidFill>
            <a:srgbClr val="5E8C6A"/>
          </a:solidFill>
          <a:ln>
            <a:solidFill>
              <a:srgbClr val="5E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52928"/>
            <a:ext cx="50109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ROLE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1363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Family Coordinator: manages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5643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Financial Helper: selected finance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776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Logistics Helper: arrangements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09651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Documents Helper: selected paperwork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41655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Family Liaison: approved updates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64008" cy="2423160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852928"/>
            <a:ext cx="50109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SAFETY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1363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Coordinator is organizational—not legal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45643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4–5 helpers maximum in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776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Access is role-based and revocable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09651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Sensitive data is private by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41655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Major permission changes are logged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10881360" cy="502920"/>
          </a:xfrm>
          <a:prstGeom prst="round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623559"/>
            <a:ext cx="10607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15583"/>
            <a:ext cx="10607040" cy="173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Families can share responsibility without sharing everything.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WORKFLOW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Documents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Bring records, receipts, expenses, and important family choices into one controlled 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703320" cy="91440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08760"/>
            <a:ext cx="342900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342900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“Important papers and decisions are everywhere. I need order without exposing private information.”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33649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64008" cy="2286000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52928"/>
            <a:ext cx="3072384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13639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Upload or save secure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5643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Tag by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77647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Set per-document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09651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Create follow-up 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2743200"/>
            <a:ext cx="33649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2743200"/>
            <a:ext cx="64008" cy="2286000"/>
          </a:xfrm>
          <a:prstGeom prst="rect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2852928"/>
            <a:ext cx="3072384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EXPENSES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13639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Add amount and payer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45643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Attach receipt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77647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Track reimbursement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409651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Choose who can view ledger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2743200"/>
            <a:ext cx="33649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2743200"/>
            <a:ext cx="64008" cy="2286000"/>
          </a:xfrm>
          <a:prstGeom prst="rect">
            <a:avLst/>
          </a:prstGeom>
          <a:solidFill>
            <a:srgbClr val="5E8C6A"/>
          </a:solidFill>
          <a:ln>
            <a:solidFill>
              <a:srgbClr val="5E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2852928"/>
            <a:ext cx="3072384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313639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Record context and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45643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Request acknowledgment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776472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Link to task or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096511"/>
            <a:ext cx="30906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Keep a clear history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20"/>
            <a:ext cx="10881360" cy="502920"/>
          </a:xfrm>
          <a:prstGeom prst="round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623559"/>
            <a:ext cx="10607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815583"/>
            <a:ext cx="10607040" cy="173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The family should always understand who can see a document, expense, or decision before it is shared.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WORKFLOW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Resource &amp; Support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Help families answer “Who do I call?” with trustworthy information—not pressure or hidden incentives.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703320" cy="91440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08760"/>
            <a:ext cx="342900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342900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“I need dependable help with benefits, documents, funeral support, property, and next steps.”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64008" cy="2423160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52928"/>
            <a:ext cx="50109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TRUST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1363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Official resources first: Georgia/federal agencies, courts, recognized associations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5643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Plain-language checklists: documents, questions,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776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Local providers to explore: funeral homes, doulas, attorneys, grief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64008" cy="2423160"/>
          </a:xfrm>
          <a:prstGeom prst="rect">
            <a:avLst/>
          </a:prstGeom>
          <a:solidFill>
            <a:srgbClr val="B95D4D"/>
          </a:solidFill>
          <a:ln>
            <a:solidFill>
              <a:srgbClr val="B95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852928"/>
            <a:ext cx="50109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TRANSPARENCY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1363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Disclose every paid listing, sponsorship, or referral 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45643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No hidden ranking based on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776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No “best” or “verified” labels without a documented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9651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Allow users to report inaccurate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881360" cy="502920"/>
          </a:xfrm>
          <a:prstGeom prst="round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23559"/>
            <a:ext cx="10607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15583"/>
            <a:ext cx="10607040" cy="173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Official information comes before commercial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WORKFLOW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Keep Moving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Provide gentle follow-through through the first year—without guilt, pressure, or notification overload.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703320" cy="91440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08760"/>
            <a:ext cx="342900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00784"/>
            <a:ext cx="342900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“I handled the immediate crisis. What is still left, and what can wait?”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64008" cy="2423160"/>
          </a:xfrm>
          <a:prstGeom prst="rect">
            <a:avLst/>
          </a:prstGeom>
          <a:solidFill>
            <a:srgbClr val="B95D4D"/>
          </a:solidFill>
          <a:ln>
            <a:solidFill>
              <a:srgbClr val="B95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52928"/>
            <a:ext cx="50109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1363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Today: immediate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5643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This week: documents and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776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This month: benefits and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09651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Next 90 days: follow-through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41655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Later: optional milestones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03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64008" cy="2423160"/>
          </a:xfrm>
          <a:prstGeom prst="rect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852928"/>
            <a:ext cx="501091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REMINDER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13639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User chooses email, text, push, or 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45643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Snooze or pause non-urgent reminders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776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Use “When you are ready”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096511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No countdowns, streaks, shame, or artificial urgency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32120"/>
            <a:ext cx="10881360" cy="502920"/>
          </a:xfrm>
          <a:prstGeom prst="round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623559"/>
            <a:ext cx="10607040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815583"/>
            <a:ext cx="10607040" cy="173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The product helps families move forward at their own 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MVP build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Build proof before complexity. Each workflow earns its place through real family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835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914400" cy="365760"/>
          </a:xfrm>
          <a:prstGeom prst="round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859536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BETA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82495"/>
            <a:ext cx="32918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First Things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700784"/>
            <a:ext cx="53035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Prove immediate clarity and calm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77440"/>
            <a:ext cx="10835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468880"/>
            <a:ext cx="914400" cy="365760"/>
          </a:xfrm>
          <a:prstGeom prst="roundRect">
            <a:avLst/>
          </a:prstGeom>
          <a:solidFill>
            <a:srgbClr val="5E8C6A"/>
          </a:solidFill>
          <a:ln>
            <a:solidFill>
              <a:srgbClr val="5E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560320"/>
            <a:ext cx="859536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BETA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05456"/>
            <a:ext cx="32918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Family Circle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523744"/>
            <a:ext cx="53035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Prove coordination without conflict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0400"/>
            <a:ext cx="10835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291840"/>
            <a:ext cx="914400" cy="365760"/>
          </a:xfrm>
          <a:prstGeom prst="roundRect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383280"/>
            <a:ext cx="859536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BETA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328416"/>
            <a:ext cx="32918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Documents &amp;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346704"/>
            <a:ext cx="53035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Prove lasting practical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23360"/>
            <a:ext cx="10835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114800"/>
            <a:ext cx="914400" cy="365760"/>
          </a:xfrm>
          <a:prstGeom prst="round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206240"/>
            <a:ext cx="859536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BETA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151376"/>
            <a:ext cx="32918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Resource &amp; Support Finder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69664"/>
            <a:ext cx="53035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Prove trusted help and transparency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46320"/>
            <a:ext cx="10835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937759"/>
            <a:ext cx="914400" cy="365760"/>
          </a:xfrm>
          <a:prstGeom prst="roundRect">
            <a:avLst/>
          </a:prstGeom>
          <a:solidFill>
            <a:srgbClr val="B95D4D"/>
          </a:solidFill>
          <a:ln>
            <a:solidFill>
              <a:srgbClr val="B95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029200"/>
            <a:ext cx="859536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BETA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974336"/>
            <a:ext cx="32918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Keep Moving Forward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992624"/>
            <a:ext cx="53035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Prove respectful long-term follow-through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60720"/>
            <a:ext cx="10835640" cy="438912"/>
          </a:xfrm>
          <a:prstGeom prst="round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" y="5852159"/>
            <a:ext cx="10561319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MVP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" y="6044183"/>
            <a:ext cx="10561319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If a workflow does not reduce confusion, strengthen family coordination, or create measurable trust, do not scale it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D99A2B"/>
                </a:solidFill>
                <a:latin typeface="Aptos"/>
              </a:defRPr>
            </a:pPr>
            <a: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Shared guardrails across every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CFE1E7"/>
                </a:solidFill>
                <a:latin typeface="Aptos"/>
              </a:defRPr>
            </a:pPr>
            <a:r>
              <a:t>The product must earn the right to be in a family’s life during a vulnerable moment.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5120640" cy="1417320"/>
          </a:xfrm>
          <a:prstGeom prst="roundRect">
            <a:avLst/>
          </a:prstGeom>
          <a:solidFill>
            <a:srgbClr val="183752"/>
          </a:solidFill>
          <a:ln>
            <a:solidFill>
              <a:srgbClr val="315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4572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D99A2B"/>
                </a:solidFill>
                <a:latin typeface="Aptos"/>
              </a:defRPr>
            </a:pPr>
            <a:r>
              <a:t>CALM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45720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Show the next right action. Let people postpone tasks without shame.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30" b="0">
                <a:solidFill>
                  <a:srgbClr val="CADDE4"/>
                </a:solidFill>
                <a:latin typeface="Aptos"/>
              </a:defRPr>
            </a:pPr>
            <a:r>
              <a:t>No countdowns, guilt, panic language, or aggressive upsells.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600200"/>
            <a:ext cx="5120640" cy="1417320"/>
          </a:xfrm>
          <a:prstGeom prst="roundRect">
            <a:avLst/>
          </a:prstGeom>
          <a:solidFill>
            <a:srgbClr val="183752"/>
          </a:solidFill>
          <a:ln>
            <a:solidFill>
              <a:srgbClr val="315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737360"/>
            <a:ext cx="4572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D99A2B"/>
                </a:solidFill>
                <a:latin typeface="Aptos"/>
              </a:defRPr>
            </a:pPr>
            <a:r>
              <a:t>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1993392"/>
            <a:ext cx="45720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Collect the minimum. Keep sensitive information private by default.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514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30" b="0">
                <a:solidFill>
                  <a:srgbClr val="CADDE4"/>
                </a:solidFill>
                <a:latin typeface="Aptos"/>
              </a:defRPr>
            </a:pPr>
            <a:r>
              <a:t>No unnecessary SSNs, bank credentials, estate values, or health records in onboarding.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29000"/>
            <a:ext cx="5120640" cy="1417320"/>
          </a:xfrm>
          <a:prstGeom prst="roundRect">
            <a:avLst/>
          </a:prstGeom>
          <a:solidFill>
            <a:srgbClr val="183752"/>
          </a:solidFill>
          <a:ln>
            <a:solidFill>
              <a:srgbClr val="315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566160"/>
            <a:ext cx="4572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D99A2B"/>
                </a:solidFill>
                <a:latin typeface="Aptos"/>
              </a:defRPr>
            </a:pPr>
            <a:r>
              <a:t>TRANSPARENT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822191"/>
            <a:ext cx="45720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Explain why a provider appears. Disclose every financial relationship.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3434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30" b="0">
                <a:solidFill>
                  <a:srgbClr val="CADDE4"/>
                </a:solidFill>
                <a:latin typeface="Aptos"/>
              </a:defRPr>
            </a:pPr>
            <a:r>
              <a:t>No hidden referral economics or rankings based on payment.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429000"/>
            <a:ext cx="5120640" cy="1417320"/>
          </a:xfrm>
          <a:prstGeom prst="roundRect">
            <a:avLst/>
          </a:prstGeom>
          <a:solidFill>
            <a:srgbClr val="183752"/>
          </a:solidFill>
          <a:ln>
            <a:solidFill>
              <a:srgbClr val="315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566160"/>
            <a:ext cx="4572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D99A2B"/>
                </a:solidFill>
                <a:latin typeface="Aptos"/>
              </a:defRPr>
            </a:pPr>
            <a:r>
              <a:t>BOUNDED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822191"/>
            <a:ext cx="45720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Organize and inform—do not practice law, finance, medicine, or funeral arranging.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3434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30" b="0">
                <a:solidFill>
                  <a:srgbClr val="CADDE4"/>
                </a:solidFill>
                <a:latin typeface="Aptos"/>
              </a:defRPr>
            </a:pPr>
            <a:r>
              <a:t>No legal-authority determinations, individualized advice, or custody of funds.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60720"/>
            <a:ext cx="10698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50" b="1">
                <a:solidFill>
                  <a:srgbClr val="DDEDF0"/>
                </a:solidFill>
                <a:latin typeface="Aptos"/>
              </a:defRPr>
            </a:pPr>
            <a:r>
              <a:t>Zeporah is an organization, general-information, and referral platform—not a law firm, financial advisor, medical provider, insurer, or funeral director.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2C7A7B"/>
                </a:solidFill>
                <a:latin typeface="Aptos"/>
              </a:defRPr>
            </a:pPr>
            <a:r>
              <a:t>GEORGIA DESIGN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</a:defRPr>
            </a:pPr>
            <a:r>
              <a:t>What we are ready to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24128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5B6973"/>
                </a:solidFill>
                <a:latin typeface="Aptos"/>
              </a:defRPr>
            </a:pPr>
            <a:r>
              <a:t>A respectful pilot should test value for families and usefulness for partners—not just downloads.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6E5E8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548640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700" b="1">
                <a:solidFill>
                  <a:srgbClr val="5B6973"/>
                </a:solidFill>
                <a:latin typeface="Aptos"/>
              </a:defRPr>
            </a:pPr>
            <a:r>
              <a:t>ZEPORAH  •  FAMILY CARE AFTER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463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700" b="1">
                <a:solidFill>
                  <a:srgbClr val="5B69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64008" cy="3383280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82495"/>
            <a:ext cx="304495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FAMILY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Can a user create a first plan in under 10 minutes?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8600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 families complete priority tasks?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 helpers reduce—not increase—confusion?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2608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 families feel calmer and more supported?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1572768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1572768"/>
            <a:ext cx="64008" cy="3383280"/>
          </a:xfrm>
          <a:prstGeom prst="rect">
            <a:avLst/>
          </a:prstGeom>
          <a:solidFill>
            <a:srgbClr val="5E8C6A"/>
          </a:solidFill>
          <a:ln>
            <a:solidFill>
              <a:srgbClr val="5E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682495"/>
            <a:ext cx="304495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PARTNER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96596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Does referral fit existing bereavement workflow?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28600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Does it reduce repeat practical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60604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Does it complement human support?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92608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Would staff feel comfortable recommending it?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1572768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4" y="1572768"/>
            <a:ext cx="64008" cy="3383280"/>
          </a:xfrm>
          <a:prstGeom prst="rect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1682495"/>
            <a:ext cx="3044952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1">
                <a:solidFill>
                  <a:srgbClr val="102A43"/>
                </a:solidFill>
                <a:latin typeface="Aptos"/>
              </a:defRPr>
            </a:pPr>
            <a:r>
              <a:t>TRUST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96596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Are privacy controls understandable?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28600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Are boundaries clear?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260604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Are provider disclosures visible?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2926080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80" b="0">
                <a:solidFill>
                  <a:srgbClr val="24313A"/>
                </a:solidFill>
                <a:latin typeface="Aptos"/>
              </a:defRPr>
            </a:pPr>
            <a:r>
              <a:t>• Can users pause or get human help?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49240"/>
            <a:ext cx="10863072" cy="640080"/>
          </a:xfrm>
          <a:prstGeom prst="roundRect">
            <a:avLst/>
          </a:prstGeom>
          <a:solidFill>
            <a:srgbClr val="EDF5F7"/>
          </a:solidFill>
          <a:ln>
            <a:solidFill>
              <a:srgbClr val="ED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440679"/>
            <a:ext cx="10588752" cy="155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50" b="1">
                <a:solidFill>
                  <a:srgbClr val="2C7A7B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632703"/>
            <a:ext cx="10588752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Invite a small number of Georgia families, hospice bereavement leaders, death doulas, and funeral-service professionals into a structured design-partner program.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53912"/>
            <a:ext cx="1078992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850" b="1">
                <a:solidFill>
                  <a:srgbClr val="5B6973"/>
                </a:solidFill>
                <a:latin typeface="Aptos"/>
              </a:defRPr>
            </a:pPr>
            <a:r>
              <a:t>zeporahcare.com  •  Mariesa Welcome, 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